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Revenus (€)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2F2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 (2026)</c:v>
                  </c:pt>
                  <c:pt idx="1">
                    <c:v>Y2 (2027)</c:v>
                  </c:pt>
                  <c:pt idx="2">
                    <c:v>Y3 (2028)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</c:v>
                </c:pt>
                <c:pt idx="1">
                  <c:v>320000</c:v>
                </c:pt>
                <c:pt idx="2">
                  <c:v>1200000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2F2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585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0160" cap="flat">
              <a:solidFill>
                <a:srgbClr val="2525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585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21E"/>
        </a:solidFill>
        <a:ln>
          <a:noFill/>
        </a:ln>
        <a:effectLst/>
      </c:spPr>
    </c:plotArea>
    <c:plotVisOnly val="1"/>
    <c:dispBlanksAs val="span"/>
  </c:chart>
  <c:spPr>
    <a:solidFill>
      <a:srgbClr val="12121E"/>
    </a:solidFill>
    <a:ln w="12700" cap="flat">
      <a:solidFill>
        <a:srgbClr val="252538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6400800" cy="640080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EA5E9">
              <a:alpha val="9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457200"/>
            <a:ext cx="3657600" cy="3200400"/>
          </a:xfrm>
          <a:prstGeom prst="ellipse">
            <a:avLst/>
          </a:prstGeom>
          <a:solidFill>
            <a:srgbClr val="8B5CF6">
              <a:alpha val="7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457200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457200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1887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B5CF6"/>
                </a:solidFill>
              </a:rPr>
              <a:t>◈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spc="600" kern="0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NIGHTWATCH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2926080" y="2907792"/>
            <a:ext cx="329184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907792"/>
            <a:ext cx="1645920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EA5E9"/>
                </a:solidFill>
              </a:rPr>
              <a:t>La soirée intelligente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77824" y="3639312"/>
            <a:ext cx="1389888" cy="292608"/>
          </a:xfrm>
          <a:prstGeom prst="rect">
            <a:avLst/>
          </a:prstGeom>
          <a:solidFill>
            <a:srgbClr val="19192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639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📱 PWA Mobile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3639312"/>
            <a:ext cx="1389888" cy="292608"/>
          </a:xfrm>
          <a:prstGeom prst="rect">
            <a:avLst/>
          </a:prstGeom>
          <a:solidFill>
            <a:srgbClr val="19192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3639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🧪 Suivi BAC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77056" y="3639312"/>
            <a:ext cx="1389888" cy="292608"/>
          </a:xfrm>
          <a:prstGeom prst="rect">
            <a:avLst/>
          </a:prstGeom>
          <a:solidFill>
            <a:srgbClr val="19192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3639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👥 Social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76672" y="3639312"/>
            <a:ext cx="1389888" cy="292608"/>
          </a:xfrm>
          <a:prstGeom prst="rect">
            <a:avLst/>
          </a:prstGeom>
          <a:solidFill>
            <a:srgbClr val="19192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3639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🛡️ Sécurité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76288" y="3639312"/>
            <a:ext cx="1389888" cy="292608"/>
          </a:xfrm>
          <a:prstGeom prst="rect">
            <a:avLst/>
          </a:prstGeom>
          <a:solidFill>
            <a:srgbClr val="19192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3639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🏆 Gamification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585A0"/>
                </a:solidFill>
              </a:rPr>
              <a:t>Présentation Investisseurs  ·  Seed Round 2026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74336"/>
            <a:ext cx="8229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NIGHTWATCH © 2026  ·  Confidentiel  ·  Pour investisseurs uniquement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EF4444">
              <a:alpha val="9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80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Problème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754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A0"/>
                </a:solidFill>
              </a:rPr>
              <a:t>Les soirées sont festives — mais dangereuses et déconnectées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768096"/>
            <a:ext cx="8449056" cy="10973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932688"/>
            <a:ext cx="2706624" cy="385876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932688"/>
            <a:ext cx="43891" cy="3858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1363" y="932688"/>
            <a:ext cx="2662733" cy="105156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978408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1M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38912" y="159105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0E8"/>
                </a:solidFill>
              </a:rPr>
              <a:t>hosp. / an France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490472" y="2048256"/>
            <a:ext cx="420624" cy="420624"/>
          </a:xfrm>
          <a:prstGeom prst="ellipse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90472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" y="2523744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Aucune conscience du BAC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" y="3090672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585A0"/>
                </a:solidFill>
              </a:rPr>
              <a:t>1 million d'hospitalisations liées à l'alcool chaque année en France. Les jeunes ignorent leur alcoolémie réelle en soirée.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932688"/>
            <a:ext cx="2706624" cy="385876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932688"/>
            <a:ext cx="43891" cy="3858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4291" y="932688"/>
            <a:ext cx="2662733" cy="10515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978408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3291840" y="159105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0E8"/>
                </a:solidFill>
              </a:rPr>
              <a:t>app dédiée soirée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43400" y="2048256"/>
            <a:ext cx="420624" cy="420624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337560" y="2523744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Aucun outil social dédié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64992" y="3090672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585A0"/>
                </a:solidFill>
              </a:rPr>
              <a:t>Instagram et Snapchat ne sont pas faits pour la soirée. Aucune app ne centralise les amis, la conso et les photos d'une même nuit.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53328" y="932688"/>
            <a:ext cx="2706624" cy="385876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53328" y="932688"/>
            <a:ext cx="43891" cy="3858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97219" y="932688"/>
            <a:ext cx="2662733" cy="105156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978408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6144768" y="159105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0E8"/>
                </a:solidFill>
              </a:rPr>
              <a:t>accidents nuit = alcool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96328" y="2048256"/>
            <a:ext cx="420624" cy="420624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190488" y="2523744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 routière négligée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3090672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585A0"/>
                </a:solidFill>
              </a:rPr>
              <a:t>40 % des accidents mortels la nuit impliquent l'alcool. Sans info temps réel, impossible de prendre la bonne décision.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974336"/>
            <a:ext cx="8229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NIGHTWATCH © 2026  ·  Confidentiel  ·  Pour investisseurs uniquement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80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Notre Solution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754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A0"/>
                </a:solidFill>
              </a:rPr>
              <a:t>Une seule app pour vivre, partager et sécuriser la soirée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768096"/>
            <a:ext cx="8449056" cy="10973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8755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0D0E8"/>
                </a:solidFill>
              </a:rPr>
              <a:t>Nightwatch est la première PWA conçue spécifiquement pour les soirées entre amis.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92224"/>
            <a:ext cx="4023360" cy="50292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792224"/>
            <a:ext cx="36576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810512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🧪  Calcul BAC en temps réel — mis à jour toutes les 30s selon poids et genre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368296"/>
            <a:ext cx="4023360" cy="50292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368296"/>
            <a:ext cx="36576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386584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👥  Soirée partagée — membres, photos, localisation GPS, stories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944368"/>
            <a:ext cx="4023360" cy="50292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944368"/>
            <a:ext cx="36576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962656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🏆  Classements, badges, streaks — l'app gamifie la nuit sans anxiété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520440"/>
            <a:ext cx="4023360" cy="50292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520440"/>
            <a:ext cx="36576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538728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🤖  Scanner IA (Mistral Pixtral) — détecte n'importe quelle boisson en photo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096512"/>
            <a:ext cx="4023360" cy="50292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4096512"/>
            <a:ext cx="36576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4114800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🛡️  Alertes de sécurité — bandeau rouge, partage de position renforcé si BAC critique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914400"/>
            <a:ext cx="3840480" cy="395020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914400"/>
            <a:ext cx="43891" cy="39502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914400"/>
            <a:ext cx="3840480" cy="822960"/>
          </a:xfrm>
          <a:prstGeom prst="rect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9509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◈ NIGHTWATCH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13350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0E8"/>
                </a:solidFill>
              </a:rPr>
              <a:t>🍺 BAC · 📍 Soirée · 🏆 Top · 👥 Amis · 🛍️ Shop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806440" y="1901952"/>
            <a:ext cx="2011680" cy="2011680"/>
          </a:xfrm>
          <a:prstGeom prst="ellipse">
            <a:avLst/>
          </a:prstGeom>
          <a:solidFill>
            <a:srgbClr val="191928"/>
          </a:solidFill>
          <a:ln w="381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21762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0.42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5806440" y="2825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g/L d'alcool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06440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😊 Détendu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4343400"/>
            <a:ext cx="1051560" cy="402336"/>
          </a:xfrm>
          <a:prstGeom prst="rect">
            <a:avLst/>
          </a:prstGeom>
          <a:solidFill>
            <a:srgbClr val="19192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43525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0" y="4544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🍺 Verres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17920" y="4343400"/>
            <a:ext cx="1051560" cy="402336"/>
          </a:xfrm>
          <a:prstGeom prst="rect">
            <a:avLst/>
          </a:prstGeom>
          <a:solidFill>
            <a:srgbClr val="19192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3525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17920" y="4544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👥 Membres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406640" y="4343400"/>
            <a:ext cx="1051560" cy="402336"/>
          </a:xfrm>
          <a:prstGeom prst="rect">
            <a:avLst/>
          </a:prstGeom>
          <a:solidFill>
            <a:srgbClr val="19192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0" y="43525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</a:rPr>
              <a:t>2h18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406640" y="4544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⏱ Temps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974336"/>
            <a:ext cx="8229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NIGHTWATCH © 2026  ·  Confidentiel  ·  Pour investisseurs uniquement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80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Fonctionnalités Clés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754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A0"/>
                </a:solidFill>
              </a:rPr>
              <a:t>5 onglets, 1 expérience complète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768096"/>
            <a:ext cx="8449056" cy="10973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987552"/>
            <a:ext cx="2706624" cy="175564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987552"/>
            <a:ext cx="43891" cy="17556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1188720"/>
            <a:ext cx="420624" cy="420624"/>
          </a:xfrm>
          <a:prstGeom prst="ellipse">
            <a:avLst/>
          </a:prstGeom>
          <a:solidFill>
            <a:srgbClr val="0EA5E9">
              <a:alpha val="22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197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2416" y="118872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Suivi BAC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" y="1700784"/>
            <a:ext cx="24323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585A0"/>
                </a:solidFill>
              </a:rPr>
              <a:t>Alcoolémie estimée en temps réel. Graphique d'évolution, 28 boissons, volumes personnalisés.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987552"/>
            <a:ext cx="2706624" cy="175564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987552"/>
            <a:ext cx="43891" cy="17556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64992" y="1188720"/>
            <a:ext cx="420624" cy="420624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197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95344" y="118872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Scanner IA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37560" y="1700784"/>
            <a:ext cx="24323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585A0"/>
                </a:solidFill>
              </a:rPr>
              <a:t>Photo d'une bouteille → Mistral Pixtral détecte le nom, l'ABV et le volume. 100% éditable.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53328" y="987552"/>
            <a:ext cx="2706624" cy="175564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53328" y="987552"/>
            <a:ext cx="43891" cy="1755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188720"/>
            <a:ext cx="420624" cy="420624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197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🎉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48272" y="118872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Soirée Partagée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90488" y="1700784"/>
            <a:ext cx="24323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585A0"/>
                </a:solidFill>
              </a:rPr>
              <a:t>Code 6 car., membres en temps réel, galerie photo, carte GPS, stories 24h, invitations.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" y="2889504"/>
            <a:ext cx="2706624" cy="175564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2889504"/>
            <a:ext cx="43891" cy="17556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" y="3090672"/>
            <a:ext cx="420624" cy="420624"/>
          </a:xfrm>
          <a:prstGeom prst="ellipse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42416" y="3090672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Classements &amp; Badges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4632" y="3602736"/>
            <a:ext cx="24323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585A0"/>
                </a:solidFill>
              </a:rPr>
              <a:t>Party Kings, Hydration Heroes, streaks hebdo, 15+ badges. Masquer son BAC du classement.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0" y="2889504"/>
            <a:ext cx="2706624" cy="175564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2889504"/>
            <a:ext cx="43891" cy="17556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64992" y="3090672"/>
            <a:ext cx="420624" cy="420624"/>
          </a:xfrm>
          <a:prstGeom prst="ellipse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🛍️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895344" y="3090672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Boutique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337560" y="3602736"/>
            <a:ext cx="24323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585A0"/>
                </a:solidFill>
              </a:rPr>
              <a:t>Cadres avatar, bannières profil, résurrection de flamme. Paiement Stripe, achat unique.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53328" y="2889504"/>
            <a:ext cx="2706624" cy="175564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53328" y="2889504"/>
            <a:ext cx="43891" cy="17556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3090672"/>
            <a:ext cx="420624" cy="420624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748272" y="3090672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190488" y="3602736"/>
            <a:ext cx="24323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585A0"/>
                </a:solidFill>
              </a:rPr>
              <a:t>Alertes BAC critique, contact d'urgence, localisation renforcée, événements malaise.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74336"/>
            <a:ext cx="8229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NIGHTWATCH © 2026  ·  Confidentiel  ·  Pour investisseurs uniquement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EA5E9">
              <a:alpha val="9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80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Opportunité de Marché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754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A0"/>
                </a:solidFill>
              </a:rPr>
              <a:t>Un marché de masse sous-adressé et en croissance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768096"/>
            <a:ext cx="8449056" cy="10973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Marché Cible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14173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0D0E8"/>
                </a:solidFill>
              </a:rPr>
              <a:t>Les 18–30 ans font la fête régulièrement.
</a:t>
            </a:r>
            <a:pPr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8B5CF6"/>
                </a:solidFill>
              </a:rPr>
              <a:t>10 millions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0D0E8"/>
                </a:solidFill>
              </a:rPr>
              <a:t> de jeunes sortent en France / mois.
</a:t>
            </a:r>
            <a:pPr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0EA5E9"/>
                </a:solidFill>
              </a:rPr>
              <a:t>80 millions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0D0E8"/>
                </a:solidFill>
              </a:rPr>
              <a:t> en Europe — sans aucun outil dédié.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2724912"/>
            <a:ext cx="3840480" cy="56692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724912"/>
            <a:ext cx="41148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761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" y="30358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85A0"/>
                </a:solidFill>
              </a:rPr>
              <a:t>Marché Total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16352" y="27797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€2.5B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7472" y="3364992"/>
            <a:ext cx="3840480" cy="56692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3364992"/>
            <a:ext cx="41148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4015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" y="36758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85A0"/>
                </a:solidFill>
              </a:rPr>
              <a:t>Marché Adressable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816352" y="34198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€250M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47472" y="4005072"/>
            <a:ext cx="3840480" cy="56692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4005072"/>
            <a:ext cx="41148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" y="43159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85A0"/>
                </a:solidFill>
              </a:rPr>
              <a:t>Marché Cible Y1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816352" y="40599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€10M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20640" y="1920240"/>
            <a:ext cx="3657600" cy="3291840"/>
          </a:xfrm>
          <a:prstGeom prst="ellipse">
            <a:avLst/>
          </a:prstGeom>
          <a:solidFill>
            <a:srgbClr val="8B5CF6">
              <a:alpha val="12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920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TAM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€2.5B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5000" y="2542032"/>
            <a:ext cx="2468880" cy="2103120"/>
          </a:xfrm>
          <a:prstGeom prst="ellipse">
            <a:avLst/>
          </a:prstGeom>
          <a:solidFill>
            <a:srgbClr val="0EA5E9">
              <a:alpha val="18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6974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SAM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€250M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63640" y="3163824"/>
            <a:ext cx="1371600" cy="1143000"/>
          </a:xfrm>
          <a:prstGeom prst="ellipse">
            <a:avLst/>
          </a:prstGeom>
          <a:solidFill>
            <a:srgbClr val="22C55E">
              <a:alpha val="25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SOM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€10M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74336"/>
            <a:ext cx="8229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NIGHTWATCH © 2026  ·  Confidentiel  ·  Pour investisseurs uniquement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80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Modèle Économique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754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A0"/>
                </a:solidFill>
              </a:rPr>
              <a:t>Freemium + Premium + Partenariats B2B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768096"/>
            <a:ext cx="8449056" cy="10973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932688"/>
            <a:ext cx="2706624" cy="385876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932688"/>
            <a:ext cx="43891" cy="3858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1363" y="932688"/>
            <a:ext cx="2662733" cy="777240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005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🛍️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41832" y="978408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In-App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Boutique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" y="18013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2,99 € – 9,99 €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" y="219456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585A0"/>
                </a:solidFill>
              </a:rPr>
              <a:t>Cadres d'avatar premium, bannières profil, résurrection de flamme. Achat unique, pas d'abonnement. Stripe Payment Links.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" y="3474720"/>
            <a:ext cx="4114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47472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6 cadres avatar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" y="3767328"/>
            <a:ext cx="4114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376732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12+ bannières profil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" y="4059936"/>
            <a:ext cx="4114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405993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Flamme Résurrection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" y="4425696"/>
            <a:ext cx="2432304" cy="256032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442569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ARPU cible  4,50€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932688"/>
            <a:ext cx="2706624" cy="385876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932688"/>
            <a:ext cx="43891" cy="38587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4291" y="932688"/>
            <a:ext cx="2662733" cy="777240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1005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794760" y="978408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Abonnement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337560" y="18013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4,99 € / mois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337560" y="219456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585A0"/>
                </a:solidFill>
              </a:rPr>
              <a:t>Statistiques avancées, export soirée, accès prioritaire aux nouvelles fonctionnalités, badge profil premium.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3474720"/>
            <a:ext cx="41148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38144" y="347472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Stats avancées BAC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37560" y="3767328"/>
            <a:ext cx="41148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8144" y="376732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Export soirée PDF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37560" y="4059936"/>
            <a:ext cx="41148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38144" y="405993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Badge Premium profil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37560" y="4425696"/>
            <a:ext cx="2432304" cy="256032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442569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Objectif Y2  10k abo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53328" y="932688"/>
            <a:ext cx="2706624" cy="385876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53328" y="932688"/>
            <a:ext cx="43891" cy="3858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97219" y="932688"/>
            <a:ext cx="2662733" cy="77724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1005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647688" y="978408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Partenariats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190488" y="18013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 devis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190488" y="219456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585A0"/>
                </a:solidFill>
              </a:rPr>
              <a:t>Bars, festivals, événements. Intégration API pour scanner les boissons de la carte. Dashboard analytics soirée.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90488" y="3474720"/>
            <a:ext cx="4114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347472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Dashboard bar/festival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90488" y="3767328"/>
            <a:ext cx="4114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376732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Boissons carte intégrées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90488" y="4059936"/>
            <a:ext cx="4114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91072" y="405993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Co-branding événements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90488" y="4425696"/>
            <a:ext cx="2432304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0488" y="442569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Pipeline  12 leads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974336"/>
            <a:ext cx="8229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NIGHTWATCH © 2026  ·  Confidentiel  ·  Pour investisseurs uniquement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3657600" cy="3657600"/>
          </a:xfrm>
          <a:prstGeom prst="ellipse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80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Métriques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754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A0"/>
                </a:solidFill>
              </a:rPr>
              <a:t>MVP lancé — premiers signaux positifs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768096"/>
            <a:ext cx="8449056" cy="10973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987552"/>
            <a:ext cx="1965960" cy="150876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987552"/>
            <a:ext cx="43891" cy="1508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115568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20624" y="1920240"/>
            <a:ext cx="181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Mois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développement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0" y="987552"/>
            <a:ext cx="1965960" cy="150876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987552"/>
            <a:ext cx="43891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115568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542032" y="1920240"/>
            <a:ext cx="181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Fonctionnel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en prod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0288" y="987552"/>
            <a:ext cx="1965960" cy="150876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90288" y="987552"/>
            <a:ext cx="43891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115568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Vite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663440" y="1920240"/>
            <a:ext cx="181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Build &lt; 5s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Déploiement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11696" y="987552"/>
            <a:ext cx="1965960" cy="150876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11696" y="987552"/>
            <a:ext cx="43891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1115568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€0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784848" y="1920240"/>
            <a:ext cx="181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Budget infra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/ mois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Milestones atteints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E8"/>
                </a:solidFill>
              </a:rPr>
              <a:t>✅  App PWA déployée sur Vercel — nightwatch-app.vercel.app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3328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E8"/>
                </a:solidFill>
              </a:rPr>
              <a:t>✅  Authentification, Supabase Auth, profils complets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3639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E8"/>
                </a:solidFill>
              </a:rPr>
              <a:t>✅  Soirées en temps réel, BAC, stories, galerie photo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E8"/>
                </a:solidFill>
              </a:rPr>
              <a:t>✅  Boutique Stripe, scanner IA Mistral Pixtral intégré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" y="4261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E8"/>
                </a:solidFill>
              </a:rPr>
              <a:t>✅  Streaks, badges, classements, amis — système gamification complet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🔜  OAuth Google / Apple  ·  Abonnement Premium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38928" y="2633472"/>
            <a:ext cx="3657600" cy="210312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38928" y="2633472"/>
            <a:ext cx="43891" cy="2103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6944" y="27066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Production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66944" y="3090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85A0"/>
                </a:solidFill>
              </a:rPr>
              <a:t>Frontend: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92240" y="309067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React 18 + TypeScript + Vite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66944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85A0"/>
                </a:solidFill>
              </a:rPr>
              <a:t>Backend/BDD: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92240" y="340156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Supabase (PostgreSQL + Realtime)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66944" y="3712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85A0"/>
                </a:solidFill>
              </a:rPr>
              <a:t>Déploiement: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92240" y="37124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Vercel — CI/CD automatique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66944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85A0"/>
                </a:solidFill>
              </a:rPr>
              <a:t>IA: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92240" y="40233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Mistral Pixtral (vision)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66944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85A0"/>
                </a:solidFill>
              </a:rPr>
              <a:t>Paiements: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92240" y="433425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8"/>
                </a:solidFill>
              </a:rPr>
              <a:t>Stripe Payment Links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74336"/>
            <a:ext cx="8229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NIGHTWATCH © 2026  ·  Confidentiel  ·  Pour investisseurs uniquement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45720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80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2026 – 2027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754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A0"/>
                </a:solidFill>
              </a:rPr>
              <a:t>De la France à l'Europe en 18 mois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768096"/>
            <a:ext cx="8449056" cy="10973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304288"/>
            <a:ext cx="8449056" cy="36576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" y="2194560"/>
            <a:ext cx="256032" cy="256032"/>
          </a:xfrm>
          <a:prstGeom prst="ellipse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005840"/>
            <a:ext cx="2029968" cy="329184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00584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Q2 2026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138988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Lancement France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2596896"/>
            <a:ext cx="2029968" cy="2176272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596896"/>
            <a:ext cx="43891" cy="21762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72491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▸  Launch nightwatch-app.vercel.app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3200400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▸  OAuth Google/Apple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367588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▸  Campagne réseaux sociaux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4151376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▸  Objectif : 10 000 utilisateurs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28416" y="2194560"/>
            <a:ext cx="256032" cy="256032"/>
          </a:xfrm>
          <a:prstGeom prst="ellipse">
            <a:avLst/>
          </a:prstGeom>
          <a:solidFill>
            <a:srgbClr val="191928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96312" y="1005840"/>
            <a:ext cx="2029968" cy="329184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100584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</a:rPr>
              <a:t>Q3 2026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96312" y="138988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Croissance &amp; Rétention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96312" y="2596896"/>
            <a:ext cx="2029968" cy="2176272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96312" y="2596896"/>
            <a:ext cx="43891" cy="21762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24328" y="272491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▸  Abonnement Premium 4,99€/mois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24328" y="3200400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▸  Stories vidéo 15s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24328" y="367588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▸  Intégrations bar/festival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24328" y="4151376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▸  Objectif : 50 000 utilisateurs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77256" y="2194560"/>
            <a:ext cx="256032" cy="256032"/>
          </a:xfrm>
          <a:prstGeom prst="ellipse">
            <a:avLst/>
          </a:prstGeom>
          <a:solidFill>
            <a:srgbClr val="191928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5152" y="1005840"/>
            <a:ext cx="2029968" cy="329184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100584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Q4 2026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45152" y="138988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Monétisation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45152" y="2596896"/>
            <a:ext cx="2029968" cy="2176272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45152" y="2596896"/>
            <a:ext cx="43891" cy="21762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72491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▸  Ads ciblées (opt-in)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73168" y="3200400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▸  API partenaires B2B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73168" y="367588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▸  Dashboard analytics soirée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73168" y="4151376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▸  Objectif : 100 000 utilisateurs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626096" y="2194560"/>
            <a:ext cx="256032" cy="256032"/>
          </a:xfrm>
          <a:prstGeom prst="ellipse">
            <a:avLst/>
          </a:prstGeom>
          <a:solidFill>
            <a:srgbClr val="19192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93992" y="1005840"/>
            <a:ext cx="2029968" cy="32918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93992" y="100584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Q1 2027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793992" y="138988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Expansion Europe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93992" y="2596896"/>
            <a:ext cx="2029968" cy="2176272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93992" y="2596896"/>
            <a:ext cx="43891" cy="21762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22008" y="272491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▸  Belgique, Suisse, Espagne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22008" y="3200400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▸  App Store iOS natif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922008" y="367588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5A0"/>
                </a:solidFill>
              </a:rPr>
              <a:t>▸  Campagne UE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22008" y="4151376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Objectif : 500 000 utilisateurs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974336"/>
            <a:ext cx="8229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NIGHTWATCH © 2026  ·  Confidentiel  ·  Pour investisseurs uniquement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1828800"/>
            <a:ext cx="3657600" cy="3657600"/>
          </a:xfrm>
          <a:prstGeom prst="ellipse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80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L'Équipe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754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A0"/>
                </a:solidFill>
              </a:rPr>
              <a:t>Passionnés, techniques, et utilisateurs de leur propre produit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768096"/>
            <a:ext cx="8449056" cy="10973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969264"/>
            <a:ext cx="2706624" cy="384048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969264"/>
            <a:ext cx="43891" cy="3840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7008" y="1152144"/>
            <a:ext cx="987552" cy="987552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1152144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8912" y="223113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Alexis Macanas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</a:rPr>
              <a:t>CEO &amp; Fondateur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2907792"/>
            <a:ext cx="1170432" cy="256032"/>
          </a:xfrm>
          <a:prstGeom prst="rect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077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5CF6"/>
                </a:solidFill>
              </a:rPr>
              <a:t>Vision produit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719072" y="2907792"/>
            <a:ext cx="1170432" cy="256032"/>
          </a:xfrm>
          <a:prstGeom prst="rect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19072" y="29077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5CF6"/>
                </a:solidFill>
              </a:rPr>
              <a:t>Marketing digital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" y="3236976"/>
            <a:ext cx="1170432" cy="256032"/>
          </a:xfrm>
          <a:prstGeom prst="rect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2369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5CF6"/>
                </a:solidFill>
              </a:rPr>
              <a:t>UI/UX design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719072" y="3236976"/>
            <a:ext cx="1170432" cy="256032"/>
          </a:xfrm>
          <a:prstGeom prst="rect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19072" y="32369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5CF6"/>
                </a:solidFill>
              </a:rPr>
              <a:t>Community management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67588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585A0"/>
                </a:solidFill>
              </a:rPr>
              <a:t>Entrepreneur early-stage. Nightwatch est son idée — il l'utilise chaque week-end depuis le premier jour.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969264"/>
            <a:ext cx="2706624" cy="384048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969264"/>
            <a:ext cx="43891" cy="3840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59936" y="1152144"/>
            <a:ext cx="987552" cy="987552"/>
          </a:xfrm>
          <a:prstGeom prst="ellipse">
            <a:avLst/>
          </a:prstGeom>
          <a:solidFill>
            <a:srgbClr val="0EA5E9">
              <a:alpha val="30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9936" y="1152144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3291840" y="223113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Morgan Reichert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291840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Lead Developer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28416" y="2907792"/>
            <a:ext cx="1170432" cy="256032"/>
          </a:xfrm>
          <a:prstGeom prst="rect">
            <a:avLst/>
          </a:prstGeom>
          <a:solidFill>
            <a:srgbClr val="0EA5E9">
              <a:alpha val="16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29077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5E9"/>
                </a:solidFill>
              </a:rPr>
              <a:t>React / TypeScript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2907792"/>
            <a:ext cx="1170432" cy="256032"/>
          </a:xfrm>
          <a:prstGeom prst="rect">
            <a:avLst/>
          </a:prstGeom>
          <a:solidFill>
            <a:srgbClr val="0EA5E9">
              <a:alpha val="16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29077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5E9"/>
                </a:solidFill>
              </a:rPr>
              <a:t>Supabase / PostgreSQL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28416" y="3236976"/>
            <a:ext cx="1170432" cy="256032"/>
          </a:xfrm>
          <a:prstGeom prst="rect">
            <a:avLst/>
          </a:prstGeom>
          <a:solidFill>
            <a:srgbClr val="0EA5E9">
              <a:alpha val="16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8416" y="32369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5E9"/>
                </a:solidFill>
              </a:rPr>
              <a:t>Déploiement Vercel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3236976"/>
            <a:ext cx="1170432" cy="256032"/>
          </a:xfrm>
          <a:prstGeom prst="rect">
            <a:avLst/>
          </a:prstGeom>
          <a:solidFill>
            <a:srgbClr val="0EA5E9">
              <a:alpha val="16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32369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5E9"/>
                </a:solidFill>
              </a:rPr>
              <a:t>Intégrations IA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28416" y="367588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585A0"/>
                </a:solidFill>
              </a:rPr>
              <a:t>Développeur full-stack. A conçu et codé l'intégralité de l'application de zéro en moins de 3 mois.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53328" y="969264"/>
            <a:ext cx="2706624" cy="384048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53328" y="969264"/>
            <a:ext cx="43891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12864" y="1152144"/>
            <a:ext cx="987552" cy="987552"/>
          </a:xfrm>
          <a:prstGeom prst="ellipse">
            <a:avLst/>
          </a:prstGeom>
          <a:solidFill>
            <a:srgbClr val="F59E0B">
              <a:alpha val="3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12864" y="1152144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6144768" y="223113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Prochain Recrutement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144768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Growth &amp; Partnerships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81344" y="2907792"/>
            <a:ext cx="1170432" cy="256032"/>
          </a:xfrm>
          <a:prstGeom prst="rect">
            <a:avLst/>
          </a:prstGeom>
          <a:solidFill>
            <a:srgbClr val="F59E0B">
              <a:alpha val="16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81344" y="29077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Social media ads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424928" y="2907792"/>
            <a:ext cx="1170432" cy="256032"/>
          </a:xfrm>
          <a:prstGeom prst="rect">
            <a:avLst/>
          </a:prstGeom>
          <a:solidFill>
            <a:srgbClr val="F59E0B">
              <a:alpha val="16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24928" y="29077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Partenariats bar/events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81344" y="3236976"/>
            <a:ext cx="1170432" cy="256032"/>
          </a:xfrm>
          <a:prstGeom prst="rect">
            <a:avLst/>
          </a:prstGeom>
          <a:solidFill>
            <a:srgbClr val="F59E0B">
              <a:alpha val="16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81344" y="32369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Ambassadeurs campus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424928" y="3236976"/>
            <a:ext cx="1170432" cy="256032"/>
          </a:xfrm>
          <a:prstGeom prst="rect">
            <a:avLst/>
          </a:prstGeom>
          <a:solidFill>
            <a:srgbClr val="F59E0B">
              <a:alpha val="16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24928" y="32369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CRM &amp; analytics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181344" y="367588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585A0"/>
                </a:solidFill>
              </a:rPr>
              <a:t>Poste clé à pourvoir. Financé par la levée de fonds seed. En charge de la croissance France puis Europe.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974336"/>
            <a:ext cx="8229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NIGHTWATCH © 2026  ·  Confidentiel  ·  Pour investisseurs uniquement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22C55E">
              <a:alpha val="9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80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Projections Financières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754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A0"/>
                </a:solidFill>
              </a:rPr>
              <a:t>Croissance organique + paid ads post-levée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768096"/>
            <a:ext cx="8449056" cy="10973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>
                <a:alpha val="0"/>
              </a:srgbClr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347472" y="987552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596128" y="987552"/>
            <a:ext cx="3200400" cy="173736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96128" y="987552"/>
            <a:ext cx="43891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24144" y="1078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Hypothèses clés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24144" y="14081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▸  ARPU boutique : 4,50 € / utilisateur actif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24144" y="1737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▸  Conversion premium Y2 : 10% des users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24144" y="2066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▸  Croissance organique virale (soirées = acquisition naturelle)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24144" y="2395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▸  CAC estimé &lt; 1,50 € (ref. pair / soirée)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96128" y="2907792"/>
            <a:ext cx="3200400" cy="173736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96128" y="2907792"/>
            <a:ext cx="43891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24144" y="2999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Utilisateurs actifs mensuels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724144" y="33284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▸  Y1 : 10 000 – 20 000 MAU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724144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▸  Y2 : 80 000 – 120 000 MAU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724144" y="39867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▸  Y3 : 400 000 – 600 000 MAU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96128" y="4654296"/>
            <a:ext cx="3200400" cy="219456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96128" y="4654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📈  Break-even estimé : mi-2027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974336"/>
            <a:ext cx="8229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NIGHTWATCH © 2026  ·  Confidentiel  ·  Pour investisseurs uniquement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0"/>
            <a:ext cx="4572000" cy="4572000"/>
          </a:xfrm>
          <a:prstGeom prst="ellipse">
            <a:avLst/>
          </a:prstGeom>
          <a:solidFill>
            <a:srgbClr val="8B5CF6">
              <a:alpha val="11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54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80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L'Investissement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754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A0"/>
                </a:solidFill>
              </a:rPr>
              <a:t>Seed Round — premier tour de financement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768096"/>
            <a:ext cx="8449056" cy="10973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8755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300 000 €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7472" y="19385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585A0"/>
                </a:solidFill>
              </a:rPr>
              <a:t>Seed Round recherché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2322576"/>
            <a:ext cx="4572000" cy="384048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3225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</a:rPr>
              <a:t>💼  Equity proposée : 15 – 20 %  ·  Valorisation pre-money : ~1,5 M€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27980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Utilisation des fonds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" y="320040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200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2F2"/>
                </a:solidFill>
              </a:rPr>
              <a:t>Développement produit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34015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85A0"/>
                </a:solidFill>
              </a:rPr>
              <a:t>iOS natif, premium, API B2B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584448"/>
            <a:ext cx="4297680" cy="64008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584448"/>
            <a:ext cx="41148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69417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6941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2F2"/>
                </a:solidFill>
              </a:rPr>
              <a:t>Marketing &amp; Acquisition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" y="38953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85A0"/>
                </a:solidFill>
              </a:rPr>
              <a:t>Ads ciblées, ambassadeurs campus, influenceurs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4078224"/>
            <a:ext cx="4297680" cy="64008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4078224"/>
            <a:ext cx="3602736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18795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4187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2F2"/>
                </a:solidFill>
              </a:rPr>
              <a:t>Opérations &amp; Équipe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4389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85A0"/>
                </a:solidFill>
              </a:rPr>
              <a:t>Recrutement Growth, légal, infra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4572000"/>
            <a:ext cx="4297680" cy="64008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4572000"/>
            <a:ext cx="2569464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38928" y="987552"/>
            <a:ext cx="3639312" cy="3785616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38928" y="987552"/>
            <a:ext cx="43891" cy="37856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85232" y="10789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 que vous obtenez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285232" y="1481328"/>
            <a:ext cx="334670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1481328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2"/>
                </a:solidFill>
              </a:rPr>
              <a:t>📊  Equity dans Nightwatch (15–20%)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85232" y="1883664"/>
            <a:ext cx="3346704" cy="329184"/>
          </a:xfrm>
          <a:prstGeom prst="rect">
            <a:avLst/>
          </a:prstGeom>
          <a:solidFill>
            <a:srgbClr val="19192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76672" y="1883664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2"/>
                </a:solidFill>
              </a:rPr>
              <a:t>📋  Board advisory seat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85232" y="2286000"/>
            <a:ext cx="334670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228600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2"/>
                </a:solidFill>
              </a:rPr>
              <a:t>🌍  Marché France + Europe dès Y2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85232" y="2688336"/>
            <a:ext cx="3346704" cy="329184"/>
          </a:xfrm>
          <a:prstGeom prst="rect">
            <a:avLst/>
          </a:prstGeom>
          <a:solidFill>
            <a:srgbClr val="19192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6672" y="2688336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2"/>
                </a:solidFill>
              </a:rPr>
              <a:t>🏆  Produit 100% fonctionnel en prod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85232" y="3090672"/>
            <a:ext cx="334670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6672" y="309067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2"/>
                </a:solidFill>
              </a:rPr>
              <a:t>🤝  Équipe fondatrice engagée à 100%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85232" y="3493008"/>
            <a:ext cx="3346704" cy="329184"/>
          </a:xfrm>
          <a:prstGeom prst="rect">
            <a:avLst/>
          </a:prstGeom>
          <a:solidFill>
            <a:srgbClr val="19192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3493008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2"/>
                </a:solidFill>
              </a:rPr>
              <a:t>📈  Croissance virale by design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85232" y="3895344"/>
            <a:ext cx="334670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6672" y="3895344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2"/>
                </a:solidFill>
              </a:rPr>
              <a:t>💡  Tech propriétaire + IA différenciante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285232" y="4297680"/>
            <a:ext cx="3346704" cy="329184"/>
          </a:xfrm>
          <a:prstGeom prst="rect">
            <a:avLst/>
          </a:prstGeom>
          <a:solidFill>
            <a:srgbClr val="19192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6672" y="429768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2"/>
                </a:solidFill>
              </a:rPr>
              <a:t>🔒  Données soirée — barrière à l'entrée forte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974336"/>
            <a:ext cx="8229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NIGHTWATCH © 2026  ·  Confidentiel  ·  Pour investisseurs uniquement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6400800" cy="640080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0EA5E9">
              <a:alpha val="9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457200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5CF6"/>
                </a:solidFill>
              </a:rPr>
              <a:t>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A5E9"/>
                </a:solidFill>
              </a:rPr>
              <a:t>Nightwatch — La soirée intelligente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523744"/>
            <a:ext cx="146304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523744"/>
            <a:ext cx="146304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724912"/>
            <a:ext cx="6400800" cy="1600200"/>
          </a:xfrm>
          <a:prstGeom prst="rect">
            <a:avLst/>
          </a:prstGeom>
          <a:solidFill>
            <a:srgbClr val="12121E"/>
          </a:solidFill>
          <a:ln w="12700">
            <a:solidFill>
              <a:srgbClr val="25253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0" y="2724912"/>
            <a:ext cx="43891" cy="1600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79806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31638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🌐  App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4480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2F2"/>
                </a:solidFill>
              </a:rPr>
              <a:t>nightwatch-app.vercel.app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0" y="31638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📧  Email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2F2"/>
                </a:solidFill>
              </a:rPr>
              <a:t>contact@nightwatch.app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60720" y="31638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85A0"/>
                </a:solidFill>
              </a:rPr>
              <a:t>📱  Instagram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2F2"/>
                </a:solidFill>
              </a:rPr>
              <a:t>@nightwatch.app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44074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0D0E8"/>
                </a:solidFill>
              </a:rPr>
              <a:t>" La meilleure soirée commence avec Nightwatch 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91928"/>
          </a:solidFill>
          <a:ln w="12700">
            <a:solidFill>
              <a:srgbClr val="19192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74336"/>
            <a:ext cx="8229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85A0"/>
                </a:solidFill>
              </a:rPr>
              <a:t>NIGHTWATCH © 2026  ·  Confidentiel  ·  Pour investisseurs uniquement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NIGHTWATCH — Investor Presentation 2026</dc:title>
  <dc:subject>PptxGenJS Presentation</dc:subject>
  <dc:creator>PptxGenJS</dc:creator>
  <cp:lastModifiedBy>PptxGenJS</cp:lastModifiedBy>
  <cp:revision>1</cp:revision>
  <dcterms:created xsi:type="dcterms:W3CDTF">2026-03-22T07:50:48Z</dcterms:created>
  <dcterms:modified xsi:type="dcterms:W3CDTF">2026-03-22T07:50:49Z</dcterms:modified>
</cp:coreProperties>
</file>